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" charset="1" panose="02020603050405020304"/>
      <p:regular r:id="rId13"/>
    </p:embeddedFont>
    <p:embeddedFont>
      <p:font typeface="Times New Roman MT Bold" charset="1" panose="02030802070405020303"/>
      <p:regular r:id="rId14"/>
    </p:embeddedFont>
    <p:embeddedFont>
      <p:font typeface="Times New Roman MT" charset="1" panose="02030502070405020303"/>
      <p:regular r:id="rId15"/>
    </p:embeddedFont>
    <p:embeddedFont>
      <p:font typeface="Arimo Bold" charset="1" panose="020B0704020202020204"/>
      <p:regular r:id="rId19"/>
    </p:embeddedFont>
    <p:embeddedFont>
      <p:font typeface="Times New Roman MT Ultra-Bold" charset="1" panose="02030902070405020303"/>
      <p:regular r:id="rId20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jpeg" Type="http://schemas.openxmlformats.org/officeDocument/2006/relationships/image"/><Relationship Id="rId12" Target="../media/image1.jpeg" Type="http://schemas.openxmlformats.org/officeDocument/2006/relationships/image"/><Relationship Id="rId2" Target="../media/image13.pn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7.jpe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09688" y="0"/>
            <a:ext cx="6992384" cy="1401048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2640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49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BLAZE A TRAIL 3.0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49433" y="-305091"/>
            <a:ext cx="11228803" cy="1714500"/>
            <a:chOff x="0" y="0"/>
            <a:chExt cx="14971737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71737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971737">
                  <a:moveTo>
                    <a:pt x="0" y="0"/>
                  </a:moveTo>
                  <a:lnTo>
                    <a:pt x="14971737" y="0"/>
                  </a:lnTo>
                  <a:lnTo>
                    <a:pt x="14971737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971737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841536" y="168430"/>
            <a:ext cx="3351213" cy="3351213"/>
          </a:xfrm>
          <a:custGeom>
            <a:avLst/>
            <a:gdLst/>
            <a:ahLst/>
            <a:cxnLst/>
            <a:rect r="r" b="b" t="t" l="l"/>
            <a:pathLst>
              <a:path h="3351213" w="3351213">
                <a:moveTo>
                  <a:pt x="0" y="0"/>
                </a:moveTo>
                <a:lnTo>
                  <a:pt x="3351212" y="0"/>
                </a:lnTo>
                <a:lnTo>
                  <a:pt x="3351212" y="3351212"/>
                </a:lnTo>
                <a:lnTo>
                  <a:pt x="0" y="3351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62571" y="2999243"/>
            <a:ext cx="4287441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</a:t>
            </a: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Statement ID: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571" y="4224492"/>
            <a:ext cx="4535210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</a:t>
            </a: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Statement Title: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2096" y="5557357"/>
            <a:ext cx="2554724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</a:t>
            </a: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 Category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05996" y="3018293"/>
            <a:ext cx="431840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34155" y="4224492"/>
            <a:ext cx="9955808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Intelligent Pesticide Sprinkling System Determined by the Infection Level of a Plant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02879" y="5566882"/>
            <a:ext cx="1819037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Hard</a:t>
            </a: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78493" y="7421910"/>
            <a:ext cx="1938218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Ka</a:t>
            </a: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rmayog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2096" y="6480647"/>
            <a:ext cx="1439942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</a:t>
            </a: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eme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16813" y="6480647"/>
            <a:ext cx="8277583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Agriculture, FoodTech &amp; Rur</a:t>
            </a: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 Development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461782" y="1017705"/>
            <a:ext cx="10509539" cy="1270004"/>
            <a:chOff x="0" y="0"/>
            <a:chExt cx="14012719" cy="16933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012718" cy="1693339"/>
            </a:xfrm>
            <a:custGeom>
              <a:avLst/>
              <a:gdLst/>
              <a:ahLst/>
              <a:cxnLst/>
              <a:rect r="r" b="b" t="t" l="l"/>
              <a:pathLst>
                <a:path h="1693339" w="14012718">
                  <a:moveTo>
                    <a:pt x="0" y="0"/>
                  </a:moveTo>
                  <a:lnTo>
                    <a:pt x="14012718" y="0"/>
                  </a:lnTo>
                  <a:lnTo>
                    <a:pt x="14012718" y="1693339"/>
                  </a:lnTo>
                  <a:lnTo>
                    <a:pt x="0" y="1693339"/>
                  </a:lnTo>
                  <a:close/>
                </a:path>
              </a:pathLst>
            </a:custGeom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4012719" cy="1769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40"/>
                </a:lnSpc>
              </a:pPr>
              <a:r>
                <a:rPr lang="en-US" sz="37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“ PhytoGuard : Targeted Pesticide Delivery System ”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72096" y="7415213"/>
            <a:ext cx="2398395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</a:t>
            </a:r>
            <a:r>
              <a:rPr lang="en-US" sz="33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eam Name :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127043" y="6870855"/>
            <a:ext cx="1958715" cy="1958715"/>
          </a:xfrm>
          <a:custGeom>
            <a:avLst/>
            <a:gdLst/>
            <a:ahLst/>
            <a:cxnLst/>
            <a:rect r="r" b="b" t="t" l="l"/>
            <a:pathLst>
              <a:path h="1958715" w="1958715">
                <a:moveTo>
                  <a:pt x="0" y="0"/>
                </a:moveTo>
                <a:lnTo>
                  <a:pt x="1958714" y="0"/>
                </a:lnTo>
                <a:lnTo>
                  <a:pt x="1958714" y="1958715"/>
                </a:lnTo>
                <a:lnTo>
                  <a:pt x="0" y="1958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908211" y="5942991"/>
            <a:ext cx="3117794" cy="3117794"/>
          </a:xfrm>
          <a:custGeom>
            <a:avLst/>
            <a:gdLst/>
            <a:ahLst/>
            <a:cxnLst/>
            <a:rect r="r" b="b" t="t" l="l"/>
            <a:pathLst>
              <a:path h="3117794" w="3117794">
                <a:moveTo>
                  <a:pt x="0" y="0"/>
                </a:moveTo>
                <a:lnTo>
                  <a:pt x="3117794" y="0"/>
                </a:lnTo>
                <a:lnTo>
                  <a:pt x="3117794" y="3117794"/>
                </a:lnTo>
                <a:lnTo>
                  <a:pt x="0" y="3117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554164" y="2087549"/>
            <a:ext cx="7307369" cy="4898128"/>
          </a:xfrm>
          <a:custGeom>
            <a:avLst/>
            <a:gdLst/>
            <a:ahLst/>
            <a:cxnLst/>
            <a:rect r="r" b="b" t="t" l="l"/>
            <a:pathLst>
              <a:path h="4898128" w="7307369">
                <a:moveTo>
                  <a:pt x="0" y="0"/>
                </a:moveTo>
                <a:lnTo>
                  <a:pt x="7307370" y="0"/>
                </a:lnTo>
                <a:lnTo>
                  <a:pt x="7307370" y="4898128"/>
                </a:lnTo>
                <a:lnTo>
                  <a:pt x="0" y="489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87134" y="2078024"/>
            <a:ext cx="7301686" cy="4894318"/>
          </a:xfrm>
          <a:custGeom>
            <a:avLst/>
            <a:gdLst/>
            <a:ahLst/>
            <a:cxnLst/>
            <a:rect r="r" b="b" t="t" l="l"/>
            <a:pathLst>
              <a:path h="4894318" w="7301686">
                <a:moveTo>
                  <a:pt x="0" y="0"/>
                </a:moveTo>
                <a:lnTo>
                  <a:pt x="7301685" y="0"/>
                </a:lnTo>
                <a:lnTo>
                  <a:pt x="7301685" y="4894318"/>
                </a:lnTo>
                <a:lnTo>
                  <a:pt x="0" y="4894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667613" y="7775836"/>
            <a:ext cx="1540725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86663" y="9385561"/>
            <a:ext cx="1540725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71945" y="7775836"/>
            <a:ext cx="29436" cy="16225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6060152" y="7762637"/>
            <a:ext cx="29436" cy="16225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4279866" y="87515"/>
            <a:ext cx="8834347" cy="1270004"/>
            <a:chOff x="0" y="0"/>
            <a:chExt cx="11779130" cy="16933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79130" cy="1693339"/>
            </a:xfrm>
            <a:custGeom>
              <a:avLst/>
              <a:gdLst/>
              <a:ahLst/>
              <a:cxnLst/>
              <a:rect r="r" b="b" t="t" l="l"/>
              <a:pathLst>
                <a:path h="1693339" w="11779130">
                  <a:moveTo>
                    <a:pt x="0" y="0"/>
                  </a:moveTo>
                  <a:lnTo>
                    <a:pt x="11779130" y="0"/>
                  </a:lnTo>
                  <a:lnTo>
                    <a:pt x="11779130" y="1693339"/>
                  </a:lnTo>
                  <a:lnTo>
                    <a:pt x="0" y="1693339"/>
                  </a:lnTo>
                  <a:close/>
                </a:path>
              </a:pathLst>
            </a:custGeom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779130" cy="1760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“ PhytoGuard : Targeted Pesticide Delivery System ”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089588" y="1712030"/>
            <a:ext cx="2097615" cy="2097615"/>
          </a:xfrm>
          <a:custGeom>
            <a:avLst/>
            <a:gdLst/>
            <a:ahLst/>
            <a:cxnLst/>
            <a:rect r="r" b="b" t="t" l="l"/>
            <a:pathLst>
              <a:path h="2097615" w="2097615">
                <a:moveTo>
                  <a:pt x="0" y="0"/>
                </a:moveTo>
                <a:lnTo>
                  <a:pt x="2097615" y="0"/>
                </a:lnTo>
                <a:lnTo>
                  <a:pt x="2097615" y="2097614"/>
                </a:lnTo>
                <a:lnTo>
                  <a:pt x="0" y="2097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9656" y="4813077"/>
            <a:ext cx="1988339" cy="1988339"/>
          </a:xfrm>
          <a:custGeom>
            <a:avLst/>
            <a:gdLst/>
            <a:ahLst/>
            <a:cxnLst/>
            <a:rect r="r" b="b" t="t" l="l"/>
            <a:pathLst>
              <a:path h="1988339" w="1988339">
                <a:moveTo>
                  <a:pt x="0" y="0"/>
                </a:moveTo>
                <a:lnTo>
                  <a:pt x="1988339" y="0"/>
                </a:lnTo>
                <a:lnTo>
                  <a:pt x="1988339" y="1988339"/>
                </a:lnTo>
                <a:lnTo>
                  <a:pt x="0" y="19883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87555" y="7632961"/>
            <a:ext cx="1841110" cy="1841110"/>
          </a:xfrm>
          <a:custGeom>
            <a:avLst/>
            <a:gdLst/>
            <a:ahLst/>
            <a:cxnLst/>
            <a:rect r="r" b="b" t="t" l="l"/>
            <a:pathLst>
              <a:path h="1841110" w="1841110">
                <a:moveTo>
                  <a:pt x="0" y="0"/>
                </a:moveTo>
                <a:lnTo>
                  <a:pt x="1841110" y="0"/>
                </a:lnTo>
                <a:lnTo>
                  <a:pt x="1841110" y="1841110"/>
                </a:lnTo>
                <a:lnTo>
                  <a:pt x="0" y="18411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57175" y="1671844"/>
            <a:ext cx="4755685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PROPOSED SOLUTION   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93590" y="1700419"/>
            <a:ext cx="4755685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CLOSING THE GAPS  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9480" y="2307447"/>
            <a:ext cx="5691545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Blanket Spraying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 Precision Targeting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59005" y="3023885"/>
            <a:ext cx="5356027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Single Pesticide → Correct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Treatment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9480" y="3721273"/>
            <a:ext cx="5195411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Manual Scouting →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AI Automation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3999" y="4441363"/>
            <a:ext cx="5692854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Environmental Harm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 Eco-Conscious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5228128"/>
            <a:ext cx="4628793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Data → Act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ionable Insights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9480" y="5997746"/>
            <a:ext cx="5350193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Cost &amp; Waste → Maj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 Savings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5610" y="7171951"/>
            <a:ext cx="5533266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INNOVATION &amp; UNIQUENESS 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6808" y="7785361"/>
            <a:ext cx="5535811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Confidence-Based Spraying Alg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orithm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5962" y="8312772"/>
            <a:ext cx="6409730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Multi-Tank, Multi-Disease Treatment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System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30092" y="7811758"/>
            <a:ext cx="4877158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Modular Desig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for Easy Repairs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11042" y="8350872"/>
            <a:ext cx="4981456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Offline-First AI for Rural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Realities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7594" y="8832837"/>
            <a:ext cx="7825145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Raspberry Pi-CAM + Raspberry Pi Hybrid Architec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ture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01517" y="8832837"/>
            <a:ext cx="5821442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Demo-Ready &amp; Cost-Effec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tive Prototype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8756" y="2060625"/>
            <a:ext cx="6525266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Autonomous rover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– GPS , durable, crop adaptable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5096" y="2949716"/>
            <a:ext cx="754194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 Vision – Detects fungal,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bacterial, nematode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35571" y="3522738"/>
            <a:ext cx="6985592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Multi Tank Sprayer – Separate tanks, exact pesticide, no wa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58756" y="5496731"/>
            <a:ext cx="6985592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Precision Spray – Spot spray, VRT, smart nozzles, rover prec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ision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5571" y="6464471"/>
            <a:ext cx="700877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IoT Dashboard – Alerts, logs, multilingua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 use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45096" y="4488956"/>
            <a:ext cx="6915488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Confidence Algorithm - AI score guides low, medium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or full spray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6403841" y="114300"/>
            <a:ext cx="1710918" cy="1115468"/>
            <a:chOff x="0" y="0"/>
            <a:chExt cx="2554514" cy="1665468"/>
          </a:xfrm>
        </p:grpSpPr>
        <p:sp>
          <p:nvSpPr>
            <p:cNvPr name="Freeform 41" id="41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554514" cy="1713093"/>
            </a:xfrm>
            <a:prstGeom prst="rect">
              <a:avLst/>
            </a:prstGeom>
          </p:spPr>
          <p:txBody>
            <a:bodyPr anchor="ctr" rtlCol="false" tIns="45365" lIns="45365" bIns="45365" rIns="45365"/>
            <a:lstStyle/>
            <a:p>
              <a:pPr algn="ctr">
                <a:lnSpc>
                  <a:spcPts val="2893"/>
                </a:lnSpc>
              </a:pP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Ka</a:t>
              </a: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rmayog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36991" y="182765"/>
            <a:ext cx="8834347" cy="1270004"/>
            <a:chOff x="0" y="0"/>
            <a:chExt cx="11779130" cy="169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79130" cy="1693339"/>
            </a:xfrm>
            <a:custGeom>
              <a:avLst/>
              <a:gdLst/>
              <a:ahLst/>
              <a:cxnLst/>
              <a:rect r="r" b="b" t="t" l="l"/>
              <a:pathLst>
                <a:path h="1693339" w="11779130">
                  <a:moveTo>
                    <a:pt x="0" y="0"/>
                  </a:moveTo>
                  <a:lnTo>
                    <a:pt x="11779130" y="0"/>
                  </a:lnTo>
                  <a:lnTo>
                    <a:pt x="11779130" y="1693339"/>
                  </a:lnTo>
                  <a:lnTo>
                    <a:pt x="0" y="1693339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779130" cy="1760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23842" y="206489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877530" y="2045847"/>
            <a:ext cx="5222" cy="68390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385290" y="3029151"/>
            <a:ext cx="2026120" cy="815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Edge Hardware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7665" y="7576183"/>
            <a:ext cx="1854119" cy="39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:</a:t>
            </a:r>
          </a:p>
        </p:txBody>
      </p:sp>
      <p:sp>
        <p:nvSpPr>
          <p:cNvPr name="AutoShape 14" id="14"/>
          <p:cNvSpPr/>
          <p:nvPr/>
        </p:nvSpPr>
        <p:spPr>
          <a:xfrm>
            <a:off x="385290" y="8884916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092105" y="6340567"/>
            <a:ext cx="1103656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 flipV="true">
            <a:off x="7092105" y="6331042"/>
            <a:ext cx="0" cy="30502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18147715" y="6340567"/>
            <a:ext cx="0" cy="30502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-917821" y="1584837"/>
            <a:ext cx="4755685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TECH STACK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67720" y="1021071"/>
            <a:ext cx="4755685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ARCHITECTURE DIAGRAM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56079" y="8508772"/>
            <a:ext cx="4621239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3.AI model analyzes disease and confidence lev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el.</a:t>
            </a:r>
          </a:p>
        </p:txBody>
      </p:sp>
      <p:sp>
        <p:nvSpPr>
          <p:cNvPr name="AutoShape 21" id="21"/>
          <p:cNvSpPr/>
          <p:nvPr/>
        </p:nvSpPr>
        <p:spPr>
          <a:xfrm>
            <a:off x="7072011" y="9381262"/>
            <a:ext cx="1103656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1019936" y="1537727"/>
            <a:ext cx="2899434" cy="527170"/>
          </a:xfrm>
          <a:custGeom>
            <a:avLst/>
            <a:gdLst/>
            <a:ahLst/>
            <a:cxnLst/>
            <a:rect r="r" b="b" t="t" l="l"/>
            <a:pathLst>
              <a:path h="527170" w="2899434">
                <a:moveTo>
                  <a:pt x="0" y="0"/>
                </a:moveTo>
                <a:lnTo>
                  <a:pt x="2899434" y="0"/>
                </a:lnTo>
                <a:lnTo>
                  <a:pt x="2899434" y="527170"/>
                </a:lnTo>
                <a:lnTo>
                  <a:pt x="0" y="52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6403841" y="114300"/>
            <a:ext cx="1710918" cy="1115468"/>
            <a:chOff x="0" y="0"/>
            <a:chExt cx="2554514" cy="1665468"/>
          </a:xfrm>
        </p:grpSpPr>
        <p:sp>
          <p:nvSpPr>
            <p:cNvPr name="Freeform 24" id="24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554514" cy="1713093"/>
            </a:xfrm>
            <a:prstGeom prst="rect">
              <a:avLst/>
            </a:prstGeom>
          </p:spPr>
          <p:txBody>
            <a:bodyPr anchor="ctr" rtlCol="false" tIns="45365" lIns="45365" bIns="45365" rIns="45365"/>
            <a:lstStyle/>
            <a:p>
              <a:pPr algn="ctr">
                <a:lnSpc>
                  <a:spcPts val="2893"/>
                </a:lnSpc>
              </a:pP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Ka</a:t>
              </a: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rmayog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335413" y="1452769"/>
            <a:ext cx="7851061" cy="4387088"/>
          </a:xfrm>
          <a:custGeom>
            <a:avLst/>
            <a:gdLst/>
            <a:ahLst/>
            <a:cxnLst/>
            <a:rect r="r" b="b" t="t" l="l"/>
            <a:pathLst>
              <a:path h="4387088" w="7851061">
                <a:moveTo>
                  <a:pt x="0" y="0"/>
                </a:moveTo>
                <a:lnTo>
                  <a:pt x="7851061" y="0"/>
                </a:lnTo>
                <a:lnTo>
                  <a:pt x="7851061" y="4387088"/>
                </a:lnTo>
                <a:lnTo>
                  <a:pt x="0" y="43870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8" t="-2550" r="-3422" b="-3279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359866" y="5361982"/>
            <a:ext cx="2899434" cy="527170"/>
          </a:xfrm>
          <a:custGeom>
            <a:avLst/>
            <a:gdLst/>
            <a:ahLst/>
            <a:cxnLst/>
            <a:rect r="r" b="b" t="t" l="l"/>
            <a:pathLst>
              <a:path h="527170" w="2899434">
                <a:moveTo>
                  <a:pt x="0" y="0"/>
                </a:moveTo>
                <a:lnTo>
                  <a:pt x="2899434" y="0"/>
                </a:lnTo>
                <a:lnTo>
                  <a:pt x="2899434" y="527170"/>
                </a:lnTo>
                <a:lnTo>
                  <a:pt x="0" y="52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923946" y="2170944"/>
            <a:ext cx="4865951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CNN  | Python | PlantVillage Dataset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3706" y="4752038"/>
            <a:ext cx="2062238" cy="39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Mechanical 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05944" y="4364356"/>
            <a:ext cx="4065856" cy="129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4WD Chassis | Solenoid Valves | DC Motors + L289N | SG90 Servo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8907" y="6370320"/>
            <a:ext cx="2243288" cy="39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Connectivity 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44735" y="3011276"/>
            <a:ext cx="3887355" cy="129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Camera Module (AI) | Raspberry Pi 4(control)  | GPS Module (NEO-6M)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65995" y="6360795"/>
            <a:ext cx="3216461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Mobile controlled App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6937" y="2183330"/>
            <a:ext cx="1451850" cy="39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 &amp; ML 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04738" y="7488552"/>
            <a:ext cx="3464405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Arduino IDE | Edge Impluses  | GitHub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524324" y="5830332"/>
            <a:ext cx="4755685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TECHNICAL WORKFLOW  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56079" y="6354205"/>
            <a:ext cx="4699840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1.User drives rover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via smartphone GPS control.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44701" y="7357469"/>
            <a:ext cx="469984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2.Camera captures pl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ant leaf image for analysis.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30829" y="6354205"/>
            <a:ext cx="5440177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4.System selects correct pes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ticide tank automatically.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11779" y="7398144"/>
            <a:ext cx="5596792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5. Precise spray applied only to infected leav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21304" y="8474471"/>
            <a:ext cx="5339785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6.Data logged for farmer review and a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nalytics.</a:t>
            </a:r>
          </a:p>
        </p:txBody>
      </p:sp>
      <p:sp>
        <p:nvSpPr>
          <p:cNvPr name="AutoShape 43" id="43"/>
          <p:cNvSpPr/>
          <p:nvPr/>
        </p:nvSpPr>
        <p:spPr>
          <a:xfrm>
            <a:off x="399570" y="2045832"/>
            <a:ext cx="5222" cy="68390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075" y="2055437"/>
            <a:ext cx="7555303" cy="4939280"/>
          </a:xfrm>
          <a:custGeom>
            <a:avLst/>
            <a:gdLst/>
            <a:ahLst/>
            <a:cxnLst/>
            <a:rect r="r" b="b" t="t" l="l"/>
            <a:pathLst>
              <a:path h="4939280" w="7555303">
                <a:moveTo>
                  <a:pt x="0" y="0"/>
                </a:moveTo>
                <a:lnTo>
                  <a:pt x="7555303" y="0"/>
                </a:lnTo>
                <a:lnTo>
                  <a:pt x="7555303" y="4939280"/>
                </a:lnTo>
                <a:lnTo>
                  <a:pt x="0" y="4939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67938" y="7552153"/>
            <a:ext cx="1179535" cy="1179535"/>
          </a:xfrm>
          <a:custGeom>
            <a:avLst/>
            <a:gdLst/>
            <a:ahLst/>
            <a:cxnLst/>
            <a:rect r="r" b="b" t="t" l="l"/>
            <a:pathLst>
              <a:path h="1179535" w="1179535">
                <a:moveTo>
                  <a:pt x="0" y="0"/>
                </a:moveTo>
                <a:lnTo>
                  <a:pt x="1179535" y="0"/>
                </a:lnTo>
                <a:lnTo>
                  <a:pt x="1179535" y="1179535"/>
                </a:lnTo>
                <a:lnTo>
                  <a:pt x="0" y="1179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77419" y="7409422"/>
            <a:ext cx="1303216" cy="1303216"/>
          </a:xfrm>
          <a:custGeom>
            <a:avLst/>
            <a:gdLst/>
            <a:ahLst/>
            <a:cxnLst/>
            <a:rect r="r" b="b" t="t" l="l"/>
            <a:pathLst>
              <a:path h="1303216" w="1303216">
                <a:moveTo>
                  <a:pt x="0" y="0"/>
                </a:moveTo>
                <a:lnTo>
                  <a:pt x="1303216" y="0"/>
                </a:lnTo>
                <a:lnTo>
                  <a:pt x="1303216" y="1303216"/>
                </a:lnTo>
                <a:lnTo>
                  <a:pt x="0" y="1303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5075" y="2055437"/>
            <a:ext cx="7555303" cy="4939280"/>
          </a:xfrm>
          <a:custGeom>
            <a:avLst/>
            <a:gdLst/>
            <a:ahLst/>
            <a:cxnLst/>
            <a:rect r="r" b="b" t="t" l="l"/>
            <a:pathLst>
              <a:path h="4939280" w="7555303">
                <a:moveTo>
                  <a:pt x="0" y="0"/>
                </a:moveTo>
                <a:lnTo>
                  <a:pt x="7555303" y="0"/>
                </a:lnTo>
                <a:lnTo>
                  <a:pt x="7555303" y="4939280"/>
                </a:lnTo>
                <a:lnTo>
                  <a:pt x="0" y="4939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3451" y="7549216"/>
            <a:ext cx="1201522" cy="1201522"/>
          </a:xfrm>
          <a:custGeom>
            <a:avLst/>
            <a:gdLst/>
            <a:ahLst/>
            <a:cxnLst/>
            <a:rect r="r" b="b" t="t" l="l"/>
            <a:pathLst>
              <a:path h="1201522" w="1201522">
                <a:moveTo>
                  <a:pt x="0" y="0"/>
                </a:moveTo>
                <a:lnTo>
                  <a:pt x="1201522" y="0"/>
                </a:lnTo>
                <a:lnTo>
                  <a:pt x="1201522" y="1201522"/>
                </a:lnTo>
                <a:lnTo>
                  <a:pt x="0" y="1201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67938" y="7552153"/>
            <a:ext cx="1179535" cy="1179535"/>
          </a:xfrm>
          <a:custGeom>
            <a:avLst/>
            <a:gdLst/>
            <a:ahLst/>
            <a:cxnLst/>
            <a:rect r="r" b="b" t="t" l="l"/>
            <a:pathLst>
              <a:path h="1179535" w="1179535">
                <a:moveTo>
                  <a:pt x="0" y="0"/>
                </a:moveTo>
                <a:lnTo>
                  <a:pt x="1179535" y="0"/>
                </a:lnTo>
                <a:lnTo>
                  <a:pt x="1179535" y="1179535"/>
                </a:lnTo>
                <a:lnTo>
                  <a:pt x="0" y="1179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7419" y="7409422"/>
            <a:ext cx="1303216" cy="1303216"/>
          </a:xfrm>
          <a:custGeom>
            <a:avLst/>
            <a:gdLst/>
            <a:ahLst/>
            <a:cxnLst/>
            <a:rect r="r" b="b" t="t" l="l"/>
            <a:pathLst>
              <a:path h="1303216" w="1303216">
                <a:moveTo>
                  <a:pt x="0" y="0"/>
                </a:moveTo>
                <a:lnTo>
                  <a:pt x="1303216" y="0"/>
                </a:lnTo>
                <a:lnTo>
                  <a:pt x="1303216" y="1303216"/>
                </a:lnTo>
                <a:lnTo>
                  <a:pt x="0" y="1303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05670" y="3098429"/>
            <a:ext cx="1500373" cy="272795"/>
          </a:xfrm>
          <a:custGeom>
            <a:avLst/>
            <a:gdLst/>
            <a:ahLst/>
            <a:cxnLst/>
            <a:rect r="r" b="b" t="t" l="l"/>
            <a:pathLst>
              <a:path h="272795" w="1500373">
                <a:moveTo>
                  <a:pt x="0" y="0"/>
                </a:moveTo>
                <a:lnTo>
                  <a:pt x="1500374" y="0"/>
                </a:lnTo>
                <a:lnTo>
                  <a:pt x="1500374" y="272795"/>
                </a:lnTo>
                <a:lnTo>
                  <a:pt x="0" y="2727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20793" y="7678675"/>
            <a:ext cx="1709923" cy="310895"/>
          </a:xfrm>
          <a:custGeom>
            <a:avLst/>
            <a:gdLst/>
            <a:ahLst/>
            <a:cxnLst/>
            <a:rect r="r" b="b" t="t" l="l"/>
            <a:pathLst>
              <a:path h="310895" w="1709923">
                <a:moveTo>
                  <a:pt x="0" y="0"/>
                </a:moveTo>
                <a:lnTo>
                  <a:pt x="1709923" y="0"/>
                </a:lnTo>
                <a:lnTo>
                  <a:pt x="1709923" y="310896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506572">
            <a:off x="13288651" y="6296708"/>
            <a:ext cx="1709923" cy="310895"/>
          </a:xfrm>
          <a:custGeom>
            <a:avLst/>
            <a:gdLst/>
            <a:ahLst/>
            <a:cxnLst/>
            <a:rect r="r" b="b" t="t" l="l"/>
            <a:pathLst>
              <a:path h="310895" w="1709923">
                <a:moveTo>
                  <a:pt x="0" y="0"/>
                </a:moveTo>
                <a:lnTo>
                  <a:pt x="1709923" y="0"/>
                </a:lnTo>
                <a:lnTo>
                  <a:pt x="1709923" y="310895"/>
                </a:lnTo>
                <a:lnTo>
                  <a:pt x="0" y="3108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90857" y="2408259"/>
            <a:ext cx="4855518" cy="2653279"/>
          </a:xfrm>
          <a:custGeom>
            <a:avLst/>
            <a:gdLst/>
            <a:ahLst/>
            <a:cxnLst/>
            <a:rect r="r" b="b" t="t" l="l"/>
            <a:pathLst>
              <a:path h="2653279" w="4855518">
                <a:moveTo>
                  <a:pt x="0" y="0"/>
                </a:moveTo>
                <a:lnTo>
                  <a:pt x="4855517" y="0"/>
                </a:lnTo>
                <a:lnTo>
                  <a:pt x="4855517" y="2653279"/>
                </a:lnTo>
                <a:lnTo>
                  <a:pt x="0" y="2653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200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60674" y="6038525"/>
            <a:ext cx="1500373" cy="272795"/>
          </a:xfrm>
          <a:custGeom>
            <a:avLst/>
            <a:gdLst/>
            <a:ahLst/>
            <a:cxnLst/>
            <a:rect r="r" b="b" t="t" l="l"/>
            <a:pathLst>
              <a:path h="272795" w="1500373">
                <a:moveTo>
                  <a:pt x="0" y="0"/>
                </a:moveTo>
                <a:lnTo>
                  <a:pt x="1500373" y="0"/>
                </a:lnTo>
                <a:lnTo>
                  <a:pt x="1500373" y="272795"/>
                </a:lnTo>
                <a:lnTo>
                  <a:pt x="0" y="2727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13255924" y="2196144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8505182" y="5366331"/>
            <a:ext cx="4378465" cy="2180440"/>
          </a:xfrm>
          <a:custGeom>
            <a:avLst/>
            <a:gdLst/>
            <a:ahLst/>
            <a:cxnLst/>
            <a:rect r="r" b="b" t="t" l="l"/>
            <a:pathLst>
              <a:path h="2180440" w="4378465">
                <a:moveTo>
                  <a:pt x="0" y="0"/>
                </a:moveTo>
                <a:lnTo>
                  <a:pt x="4378464" y="0"/>
                </a:lnTo>
                <a:lnTo>
                  <a:pt x="4378464" y="2180440"/>
                </a:lnTo>
                <a:lnTo>
                  <a:pt x="0" y="21804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8060044" y="2315281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4136991" y="182765"/>
            <a:ext cx="8834347" cy="1270004"/>
            <a:chOff x="0" y="0"/>
            <a:chExt cx="11779130" cy="16933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79130" cy="1693339"/>
            </a:xfrm>
            <a:custGeom>
              <a:avLst/>
              <a:gdLst/>
              <a:ahLst/>
              <a:cxnLst/>
              <a:rect r="r" b="b" t="t" l="l"/>
              <a:pathLst>
                <a:path h="1693339" w="11779130">
                  <a:moveTo>
                    <a:pt x="0" y="0"/>
                  </a:moveTo>
                  <a:lnTo>
                    <a:pt x="11779130" y="0"/>
                  </a:lnTo>
                  <a:lnTo>
                    <a:pt x="11779130" y="1693339"/>
                  </a:lnTo>
                  <a:lnTo>
                    <a:pt x="0" y="1693339"/>
                  </a:lnTo>
                  <a:close/>
                </a:path>
              </a:pathLst>
            </a:custGeom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1779130" cy="1760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03841" y="114300"/>
            <a:ext cx="1710918" cy="1115468"/>
            <a:chOff x="0" y="0"/>
            <a:chExt cx="2554514" cy="1665468"/>
          </a:xfrm>
        </p:grpSpPr>
        <p:sp>
          <p:nvSpPr>
            <p:cNvPr name="Freeform 21" id="21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554514" cy="1713093"/>
            </a:xfrm>
            <a:prstGeom prst="rect">
              <a:avLst/>
            </a:prstGeom>
          </p:spPr>
          <p:txBody>
            <a:bodyPr anchor="ctr" rtlCol="false" tIns="45365" lIns="45365" bIns="45365" rIns="45365"/>
            <a:lstStyle/>
            <a:p>
              <a:pPr algn="ctr">
                <a:lnSpc>
                  <a:spcPts val="2893"/>
                </a:lnSpc>
              </a:pP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Ka</a:t>
              </a: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rmayog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3389274" y="2824356"/>
            <a:ext cx="4649285" cy="3486964"/>
          </a:xfrm>
          <a:custGeom>
            <a:avLst/>
            <a:gdLst/>
            <a:ahLst/>
            <a:cxnLst/>
            <a:rect r="r" b="b" t="t" l="l"/>
            <a:pathLst>
              <a:path h="3486964" w="4649285">
                <a:moveTo>
                  <a:pt x="0" y="0"/>
                </a:moveTo>
                <a:lnTo>
                  <a:pt x="4649285" y="0"/>
                </a:lnTo>
                <a:lnTo>
                  <a:pt x="4649285" y="3486964"/>
                </a:lnTo>
                <a:lnTo>
                  <a:pt x="0" y="34869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89388" y="1411548"/>
            <a:ext cx="4755685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CONFIDENCE ALGORITHM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72475" y="1421322"/>
            <a:ext cx="4755685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PROTOTYPE MODEL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68257" y="4817692"/>
            <a:ext cx="3406497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Prevent</a:t>
            </a:r>
            <a:r>
              <a:rPr lang="en-US" b="true" sz="2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ive Spray Approach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52807" y="5575489"/>
            <a:ext cx="4378465" cy="15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stop sprea</a:t>
            </a: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d, the neighboring plants P4 and P6 are sprayed with low dose preventive pesticide.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13056" y="7575346"/>
            <a:ext cx="3646722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re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 (P1–P3, P7–P9) are left untouched.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55687" y="6837225"/>
            <a:ext cx="1854119" cy="39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length 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65149" y="7340388"/>
            <a:ext cx="1854119" cy="39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breadth 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52140" y="6830097"/>
            <a:ext cx="145034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50 - 60 cm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356852" y="7306858"/>
            <a:ext cx="145034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55 - 65 cm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50519" y="1411548"/>
            <a:ext cx="4755685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INNOVATION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36991" y="-150231"/>
            <a:ext cx="8834347" cy="1270004"/>
            <a:chOff x="0" y="0"/>
            <a:chExt cx="11779130" cy="169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79130" cy="1693339"/>
            </a:xfrm>
            <a:custGeom>
              <a:avLst/>
              <a:gdLst/>
              <a:ahLst/>
              <a:cxnLst/>
              <a:rect r="r" b="b" t="t" l="l"/>
              <a:pathLst>
                <a:path h="1693339" w="11779130">
                  <a:moveTo>
                    <a:pt x="0" y="0"/>
                  </a:moveTo>
                  <a:lnTo>
                    <a:pt x="11779130" y="0"/>
                  </a:lnTo>
                  <a:lnTo>
                    <a:pt x="11779130" y="1693339"/>
                  </a:lnTo>
                  <a:lnTo>
                    <a:pt x="0" y="1693339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779130" cy="1760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</a:t>
              </a: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ARKET DEMAND ANALYSIS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325801" y="1669003"/>
            <a:ext cx="7307369" cy="4898128"/>
          </a:xfrm>
          <a:custGeom>
            <a:avLst/>
            <a:gdLst/>
            <a:ahLst/>
            <a:cxnLst/>
            <a:rect r="r" b="b" t="t" l="l"/>
            <a:pathLst>
              <a:path h="4898128" w="7307369">
                <a:moveTo>
                  <a:pt x="0" y="0"/>
                </a:moveTo>
                <a:lnTo>
                  <a:pt x="7307369" y="0"/>
                </a:lnTo>
                <a:lnTo>
                  <a:pt x="7307369" y="4898128"/>
                </a:lnTo>
                <a:lnTo>
                  <a:pt x="0" y="489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67613" y="1615281"/>
            <a:ext cx="7844820" cy="5258380"/>
          </a:xfrm>
          <a:custGeom>
            <a:avLst/>
            <a:gdLst/>
            <a:ahLst/>
            <a:cxnLst/>
            <a:rect r="r" b="b" t="t" l="l"/>
            <a:pathLst>
              <a:path h="5258380" w="7844820">
                <a:moveTo>
                  <a:pt x="0" y="0"/>
                </a:moveTo>
                <a:lnTo>
                  <a:pt x="7844819" y="0"/>
                </a:lnTo>
                <a:lnTo>
                  <a:pt x="7844819" y="5258380"/>
                </a:lnTo>
                <a:lnTo>
                  <a:pt x="0" y="5258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667613" y="7573234"/>
            <a:ext cx="1540725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86663" y="9436740"/>
            <a:ext cx="1540725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6060153" y="7592284"/>
            <a:ext cx="14718" cy="18254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208220" y="7262769"/>
            <a:ext cx="2045919" cy="2045919"/>
          </a:xfrm>
          <a:custGeom>
            <a:avLst/>
            <a:gdLst/>
            <a:ahLst/>
            <a:cxnLst/>
            <a:rect r="r" b="b" t="t" l="l"/>
            <a:pathLst>
              <a:path h="2045919" w="2045919">
                <a:moveTo>
                  <a:pt x="0" y="0"/>
                </a:moveTo>
                <a:lnTo>
                  <a:pt x="2045918" y="0"/>
                </a:lnTo>
                <a:lnTo>
                  <a:pt x="2045918" y="2045919"/>
                </a:lnTo>
                <a:lnTo>
                  <a:pt x="0" y="204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819289" y="1249637"/>
            <a:ext cx="1295470" cy="1295470"/>
          </a:xfrm>
          <a:custGeom>
            <a:avLst/>
            <a:gdLst/>
            <a:ahLst/>
            <a:cxnLst/>
            <a:rect r="r" b="b" t="t" l="l"/>
            <a:pathLst>
              <a:path h="1295470" w="1295470">
                <a:moveTo>
                  <a:pt x="0" y="0"/>
                </a:moveTo>
                <a:lnTo>
                  <a:pt x="1295470" y="0"/>
                </a:lnTo>
                <a:lnTo>
                  <a:pt x="1295470" y="1295470"/>
                </a:lnTo>
                <a:lnTo>
                  <a:pt x="0" y="12954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93561" y="3613067"/>
            <a:ext cx="1416054" cy="1416054"/>
          </a:xfrm>
          <a:custGeom>
            <a:avLst/>
            <a:gdLst/>
            <a:ahLst/>
            <a:cxnLst/>
            <a:rect r="r" b="b" t="t" l="l"/>
            <a:pathLst>
              <a:path h="1416054" w="1416054">
                <a:moveTo>
                  <a:pt x="0" y="0"/>
                </a:moveTo>
                <a:lnTo>
                  <a:pt x="1416054" y="0"/>
                </a:lnTo>
                <a:lnTo>
                  <a:pt x="1416054" y="1416054"/>
                </a:lnTo>
                <a:lnTo>
                  <a:pt x="0" y="1416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27027" y="1014998"/>
            <a:ext cx="6626846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TARGET AUDIENCE &amp; SPECIFIC NEED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75701" y="1154271"/>
            <a:ext cx="6730860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 UNIQUE VALUE PROPOSITION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3153" y="1844068"/>
            <a:ext cx="6604833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AI-Powered Precision – Detects crop disease in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real-time.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156558" y="7056333"/>
            <a:ext cx="9183528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 MARKET POTENTIAL &amp; SUPPORTING TRENDS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6663" y="7536393"/>
            <a:ext cx="7657753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Huge Agriculture Market – India has 150M+ hectares 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of farmland.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3729" y="1844068"/>
            <a:ext cx="7470687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Small &amp;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marginal farmers with limited resources.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8276" y="2449857"/>
            <a:ext cx="6525266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Agri-cooperatives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managing large crop fields.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1011" y="3121578"/>
            <a:ext cx="7557074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Government &amp; NGOs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promoting sustainable farming.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0061" y="3824697"/>
            <a:ext cx="7313117" cy="4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Agri-tech sta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rtups seeking affordable innovations.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2484" y="4497162"/>
            <a:ext cx="7555078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Rising crop losses due to la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 or incorrect disease detection.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3434" y="5531576"/>
            <a:ext cx="7359744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Lack of real-time, on-field decision 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tools in rural areas.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48239" y="2779422"/>
            <a:ext cx="6604833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Multi-Tank Smart Selection – Sprays the right pesticide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each disease.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29189" y="3710397"/>
            <a:ext cx="6604833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Eco-Friendly – Cuts chemical use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by 50% reducing pollution.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29189" y="4601937"/>
            <a:ext cx="6604833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Offline-First – Works without internet, ideal for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rural areas.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10139" y="5512526"/>
            <a:ext cx="6604833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User-Friendly – Controlled via a fa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rmer’s smartphone.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8088" y="8427932"/>
            <a:ext cx="7495090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Rising Pesticide Costs – Farmers spend 25 – 40% of input cost 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 chemicals.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44416" y="7554184"/>
            <a:ext cx="7657753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Global AgriTech Boom – AgriTech market expected t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 reach $40B+ by 2030.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68264" y="8445723"/>
            <a:ext cx="7657753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Shift to Precision Farming – Growing adoption of AI &amp; I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oT in agriculture.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403841" y="-5220"/>
            <a:ext cx="1710918" cy="1115468"/>
            <a:chOff x="0" y="0"/>
            <a:chExt cx="2554514" cy="1665468"/>
          </a:xfrm>
        </p:grpSpPr>
        <p:sp>
          <p:nvSpPr>
            <p:cNvPr name="Freeform 37" id="37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554514" cy="1713093"/>
            </a:xfrm>
            <a:prstGeom prst="rect">
              <a:avLst/>
            </a:prstGeom>
          </p:spPr>
          <p:txBody>
            <a:bodyPr anchor="ctr" rtlCol="false" tIns="45365" lIns="45365" bIns="45365" rIns="45365"/>
            <a:lstStyle/>
            <a:p>
              <a:pPr algn="ctr">
                <a:lnSpc>
                  <a:spcPts val="2893"/>
                </a:lnSpc>
              </a:pP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Ka</a:t>
              </a: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rmayog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686663" y="7582605"/>
            <a:ext cx="14718" cy="18254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36991" y="-244730"/>
            <a:ext cx="8834347" cy="1270004"/>
            <a:chOff x="0" y="0"/>
            <a:chExt cx="11779130" cy="169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79130" cy="1693339"/>
            </a:xfrm>
            <a:custGeom>
              <a:avLst/>
              <a:gdLst/>
              <a:ahLst/>
              <a:cxnLst/>
              <a:rect r="r" b="b" t="t" l="l"/>
              <a:pathLst>
                <a:path h="1693339" w="11779130">
                  <a:moveTo>
                    <a:pt x="0" y="0"/>
                  </a:moveTo>
                  <a:lnTo>
                    <a:pt x="11779130" y="0"/>
                  </a:lnTo>
                  <a:lnTo>
                    <a:pt x="11779130" y="1693339"/>
                  </a:lnTo>
                  <a:lnTo>
                    <a:pt x="0" y="1693339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779130" cy="1760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</a:t>
              </a: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</a:t>
              </a: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ACT &amp; SOCIAL RELEVANCE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5610" y="1547797"/>
            <a:ext cx="7003811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SDG 2 – Zero Hunger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 Improves crop yield &amp; food security.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610" y="2551432"/>
            <a:ext cx="7003811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SDG 3 – Good Health &amp; Well-being → Reduces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harmful chemical exposure.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610" y="3557271"/>
            <a:ext cx="7003811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SDG 9 – Industry, Innovation &amp;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Infrastructure → Promotes agri-tech innovation.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610" y="4490848"/>
            <a:ext cx="7003811" cy="129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SDG 12 – Responsible Consumption &amp; Production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 Cuts chemical overuse, ensures sustainable farming.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610" y="6030087"/>
            <a:ext cx="6842341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SDG 13 – Climate Act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ion → Lowers environmental damage from excessive pesticides.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610" y="6974089"/>
            <a:ext cx="7003811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SDG 15 – Life on Land → Protects soil health,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biodiversity &amp; ecosystems.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1628" y="7862078"/>
            <a:ext cx="3560088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📊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Total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SDGs Covered: 6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5400000">
            <a:off x="281628" y="1302356"/>
            <a:ext cx="6971684" cy="6971684"/>
          </a:xfrm>
          <a:custGeom>
            <a:avLst/>
            <a:gdLst/>
            <a:ahLst/>
            <a:cxnLst/>
            <a:rect r="r" b="b" t="t" l="l"/>
            <a:pathLst>
              <a:path h="6971684" w="6971684">
                <a:moveTo>
                  <a:pt x="0" y="0"/>
                </a:moveTo>
                <a:lnTo>
                  <a:pt x="6971684" y="0"/>
                </a:lnTo>
                <a:lnTo>
                  <a:pt x="6971684" y="6971684"/>
                </a:lnTo>
                <a:lnTo>
                  <a:pt x="0" y="6971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769189" y="1335682"/>
            <a:ext cx="6046812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Eco-Friendly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Minimizes pollution &amp; soil harm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54641" y="2435986"/>
            <a:ext cx="6046812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Targeted Treatment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Right pesticide for each disease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9189" y="2474871"/>
            <a:ext cx="6046812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Time-Saving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Automated scouting reduces labor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4641" y="3464321"/>
            <a:ext cx="6046812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Smart Insights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Data-driven decisions for farmers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40614" y="3464321"/>
            <a:ext cx="6046812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Sustainability</a:t>
            </a: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Promotes safe, long-term farming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54641" y="1335682"/>
            <a:ext cx="6046812" cy="8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Cuts Costs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Reduces pesticide use &amp; expenses</a:t>
            </a:r>
          </a:p>
        </p:txBody>
      </p:sp>
      <p:sp>
        <p:nvSpPr>
          <p:cNvPr name="AutoShape 24" id="24"/>
          <p:cNvSpPr/>
          <p:nvPr/>
        </p:nvSpPr>
        <p:spPr>
          <a:xfrm>
            <a:off x="7696551" y="4682276"/>
            <a:ext cx="1010275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7696551" y="1263503"/>
            <a:ext cx="100411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7737743" y="1186910"/>
            <a:ext cx="47625" cy="34667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7677502" y="1234928"/>
            <a:ext cx="19050" cy="3466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7742066" y="5108589"/>
            <a:ext cx="9995677" cy="5073636"/>
          </a:xfrm>
          <a:custGeom>
            <a:avLst/>
            <a:gdLst/>
            <a:ahLst/>
            <a:cxnLst/>
            <a:rect r="r" b="b" t="t" l="l"/>
            <a:pathLst>
              <a:path h="5073636" w="9995677">
                <a:moveTo>
                  <a:pt x="0" y="0"/>
                </a:moveTo>
                <a:lnTo>
                  <a:pt x="9995677" y="0"/>
                </a:lnTo>
                <a:lnTo>
                  <a:pt x="9995677" y="5073636"/>
                </a:lnTo>
                <a:lnTo>
                  <a:pt x="0" y="5073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27" t="-24737" r="-10133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-671722" y="841347"/>
            <a:ext cx="4755685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SDG COVERED  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35244" y="607973"/>
            <a:ext cx="4755685" cy="4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BENEFITS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92746" y="4768001"/>
            <a:ext cx="3276216" cy="47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</a:pPr>
            <a:r>
              <a:rPr lang="en-US" b="true" sz="2491">
                <a:solidFill>
                  <a:srgbClr val="4A7EBB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POTENTIAL IMPACT </a:t>
            </a:r>
          </a:p>
        </p:txBody>
      </p:sp>
      <p:sp>
        <p:nvSpPr>
          <p:cNvPr name="AutoShape 32" id="32"/>
          <p:cNvSpPr/>
          <p:nvPr/>
        </p:nvSpPr>
        <p:spPr>
          <a:xfrm>
            <a:off x="7731142" y="5260249"/>
            <a:ext cx="100066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7737743" y="5238126"/>
            <a:ext cx="42519" cy="42033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>
            <a:off x="7761116" y="5238103"/>
            <a:ext cx="5106" cy="42033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6403841" y="-15042"/>
            <a:ext cx="1710918" cy="1115468"/>
            <a:chOff x="0" y="0"/>
            <a:chExt cx="2554514" cy="1665468"/>
          </a:xfrm>
        </p:grpSpPr>
        <p:sp>
          <p:nvSpPr>
            <p:cNvPr name="Freeform 36" id="36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554514" cy="1713093"/>
            </a:xfrm>
            <a:prstGeom prst="rect">
              <a:avLst/>
            </a:prstGeom>
          </p:spPr>
          <p:txBody>
            <a:bodyPr anchor="ctr" rtlCol="false" tIns="45365" lIns="45365" bIns="45365" rIns="45365"/>
            <a:lstStyle/>
            <a:p>
              <a:pPr algn="ctr">
                <a:lnSpc>
                  <a:spcPts val="2893"/>
                </a:lnSpc>
              </a:pP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Ka</a:t>
              </a:r>
              <a:r>
                <a:rPr lang="en-US" sz="241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rmayog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flipV="true">
            <a:off x="7766222" y="9441462"/>
            <a:ext cx="100066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36991" y="197607"/>
            <a:ext cx="8834347" cy="1270004"/>
            <a:chOff x="0" y="0"/>
            <a:chExt cx="11779130" cy="169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79130" cy="1693339"/>
            </a:xfrm>
            <a:custGeom>
              <a:avLst/>
              <a:gdLst/>
              <a:ahLst/>
              <a:cxnLst/>
              <a:rect r="r" b="b" t="t" l="l"/>
              <a:pathLst>
                <a:path h="1693339" w="11779130">
                  <a:moveTo>
                    <a:pt x="0" y="0"/>
                  </a:moveTo>
                  <a:lnTo>
                    <a:pt x="11779130" y="0"/>
                  </a:lnTo>
                  <a:lnTo>
                    <a:pt x="11779130" y="1693339"/>
                  </a:lnTo>
                  <a:lnTo>
                    <a:pt x="0" y="1693339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779130" cy="1760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AND REFERENCES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1774350" y="7832390"/>
            <a:ext cx="14830348" cy="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6604698" y="2587958"/>
            <a:ext cx="0" cy="52558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754724" y="2587958"/>
            <a:ext cx="1484997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955308" y="3639994"/>
            <a:ext cx="14967372" cy="2853260"/>
            <a:chOff x="0" y="0"/>
            <a:chExt cx="19956495" cy="380434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1481" y="569449"/>
              <a:ext cx="16270311" cy="619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88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Artificial Intelligence and Machine Learning Operated Pesticide Sprayer (IRJET, 2022)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1481" y="1204024"/>
              <a:ext cx="19040408" cy="619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88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JERT. (2024). AI-Based Drone for Pesticide Recommendation and Spraying for Precision Agriculture.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891781"/>
              <a:ext cx="16822742" cy="619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88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Atlantis Press. (n.d.). Artificial Intelligence-based Autonomous Pesticide Spraying Drone.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481" y="2567346"/>
              <a:ext cx="19945015" cy="619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88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AIP Publishing. (2025). Design of Self-Adaptable Autonomous Robotic Sprayer for Precision Agriculture.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184459"/>
              <a:ext cx="17802445" cy="619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88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IARJSET. (2024). Smart Pest Detection and Pesticide Sprayer with Machine Learning and IoT.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481" y="-142875"/>
              <a:ext cx="14886989" cy="619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88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AI-Based Plant Disease Detection and Pesticide Spraying System(JETIR, 2025)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793400" y="2587958"/>
            <a:ext cx="0" cy="52558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DAHA7Csbe9w</dc:identifier>
  <dcterms:modified xsi:type="dcterms:W3CDTF">2011-08-01T06:04:30Z</dcterms:modified>
  <cp:revision>1</cp:revision>
  <dc:title>Blaze a trail 3.0 ppt.pptx</dc:title>
</cp:coreProperties>
</file>